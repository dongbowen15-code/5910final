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Rotten Apple</c:v>
                </c:pt>
                <c:pt idx="1">
                  <c:v>Fresh Orange</c:v>
                </c:pt>
                <c:pt idx="2">
                  <c:v>Rotten Banana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96.78</c:v>
                </c:pt>
                <c:pt idx="1">
                  <c:v>85.11</c:v>
                </c:pt>
                <c:pt idx="2">
                  <c:v>93.36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7D-4936-9243-98CCF98870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266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4"/>
          </a:solidFill>
          <a:ln w="12700">
            <a:solidFill>
              <a:srgbClr val="F7F9F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515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Fruit Freshness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Classifier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13232" y="2743200"/>
            <a:ext cx="1097280" cy="0"/>
          </a:xfrm>
          <a:prstGeom prst="line">
            <a:avLst/>
          </a:prstGeom>
          <a:noFill/>
          <a:ln w="635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063240"/>
            <a:ext cx="49377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17067"/>
                </a:solidFill>
              </a:rPr>
              <a:t>A PyTorch image classification project that predicts fruit type and freshness from uploaded images.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41605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DDEEDC"/>
          </a:solidFill>
          <a:ln w="12700">
            <a:solidFill>
              <a:srgbClr val="DDEED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4242816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5"/>
                </a:solidFill>
              </a:rPr>
              <a:t>Image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84832" y="416052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FFF2C2"/>
          </a:solidFill>
          <a:ln w="12700">
            <a:solidFill>
              <a:srgbClr val="FFF2C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424281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E2E"/>
                </a:solidFill>
              </a:rPr>
              <a:t>CNN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416052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DDEAF8"/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4242816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15A86"/>
                </a:solidFill>
              </a:rPr>
              <a:t>Web demo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640080"/>
            <a:ext cx="5303520" cy="5303520"/>
          </a:xfrm>
          <a:prstGeom prst="arc">
            <a:avLst/>
          </a:prstGeom>
          <a:noFill/>
          <a:ln w="25400">
            <a:solidFill>
              <a:srgbClr val="DDEEDC"/>
            </a:solidFill>
            <a:prstDash val="solid"/>
          </a:ln>
        </p:spPr>
      </p:sp>
      <p:pic>
        <p:nvPicPr>
          <p:cNvPr id="13" name="Image 0" descr="/mnt/data/ppt_assets/demo_2.png"/>
          <p:cNvPicPr>
            <a:picLocks noChangeAspect="1"/>
          </p:cNvPicPr>
          <p:nvPr/>
        </p:nvPicPr>
        <p:blipFill>
          <a:blip r:embed="rId3"/>
          <a:srcRect t="9657" b="9657"/>
          <a:stretch/>
        </p:blipFill>
        <p:spPr>
          <a:xfrm>
            <a:off x="6583680" y="777240"/>
            <a:ext cx="4892040" cy="5074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13232" y="60533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67"/>
                </a:solidFill>
              </a:rPr>
              <a:t>Course-scope methods only: fully connected net + CNN + dropout + augmentation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4"/>
          </a:solidFill>
          <a:ln w="12700">
            <a:solidFill>
              <a:srgbClr val="F7F9F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and Goal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896112"/>
            <a:ext cx="10515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images by fruit type and freshness status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A80"/>
                </a:solidFill>
              </a:rPr>
              <a:t>Fruit Freshness Classifier | PyTorch CNN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A80"/>
                </a:solidFill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49377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6B45"/>
                </a:solidFill>
              </a:rPr>
              <a:t>Business problem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44348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2000" dirty="0">
                <a:solidFill>
                  <a:srgbClr val="1F2A24"/>
                </a:solidFill>
              </a:rPr>
              <a:t>Freshness is visible in color, texture, and surface spots.</a:t>
            </a:r>
            <a:endParaRPr lang="en-US" sz="2000" dirty="0"/>
          </a:p>
          <a:p>
            <a:r>
              <a:rPr lang="en-US" sz="2000" dirty="0">
                <a:solidFill>
                  <a:srgbClr val="1F2A24"/>
                </a:solidFill>
              </a:rPr>
              <a:t>Manual inspection is slow and inconsistent.</a:t>
            </a:r>
            <a:endParaRPr lang="en-US" sz="2000" dirty="0"/>
          </a:p>
          <a:p>
            <a:r>
              <a:rPr lang="en-US" sz="2000" dirty="0">
                <a:solidFill>
                  <a:srgbClr val="1F2A24"/>
                </a:solidFill>
              </a:rPr>
              <a:t>A simple image classifier can support a product demo for food quality screening.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80760" y="1508760"/>
            <a:ext cx="0" cy="4114800"/>
          </a:xfrm>
          <a:prstGeom prst="line">
            <a:avLst/>
          </a:prstGeom>
          <a:noFill/>
          <a:ln w="15240">
            <a:solidFill>
              <a:srgbClr val="C9D7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6B45"/>
                </a:solidFill>
              </a:rPr>
              <a:t>Goal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629400" y="22402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17067"/>
                </a:solidFill>
              </a:rPr>
              <a:t>Predict one of six classes from a fruit image: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29400" y="274320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DDEEDC"/>
          </a:solidFill>
          <a:ln w="12700">
            <a:solidFill>
              <a:srgbClr val="DDEED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825496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5"/>
                </a:solidFill>
              </a:rPr>
              <a:t>Fresh Apple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274320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5D6CF"/>
          </a:solidFill>
          <a:ln w="12700">
            <a:solidFill>
              <a:srgbClr val="F5D6C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825496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E2E"/>
                </a:solidFill>
              </a:rPr>
              <a:t>Rotten Apple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9400" y="340156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DDEEDC"/>
          </a:solidFill>
          <a:ln w="12700">
            <a:solidFill>
              <a:srgbClr val="DDEED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483864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5"/>
                </a:solidFill>
              </a:rPr>
              <a:t>Fresh Banana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61120" y="340156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5D6CF"/>
          </a:solidFill>
          <a:ln w="12700">
            <a:solidFill>
              <a:srgbClr val="F5D6C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3483864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E2E"/>
                </a:solidFill>
              </a:rPr>
              <a:t>Rotten Banana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4059936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DDEEDC"/>
          </a:solidFill>
          <a:ln w="12700">
            <a:solidFill>
              <a:srgbClr val="DDEED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414223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5"/>
                </a:solidFill>
              </a:rPr>
              <a:t>Fresh Orange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61120" y="4059936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5D6CF"/>
          </a:solidFill>
          <a:ln w="12700">
            <a:solidFill>
              <a:srgbClr val="F5D6C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414223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E2E"/>
                </a:solidFill>
              </a:rPr>
              <a:t>Rotten Orange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4"/>
          </a:solidFill>
          <a:ln w="12700">
            <a:solidFill>
              <a:srgbClr val="F7F9F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Dataset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896112"/>
            <a:ext cx="10515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High-dimensional image data organized into class folders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A80"/>
                </a:solidFill>
              </a:rPr>
              <a:t>Fruit Freshness Classifier | PyTorch CNN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A80"/>
                </a:solidFill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B45"/>
                </a:solidFill>
              </a:rPr>
              <a:t>Dataset input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474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17067"/>
                </a:solidFill>
              </a:rPr>
              <a:t>Images are stored by label so PyTorch can read the class names directly.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1353312"/>
            <a:ext cx="1737360" cy="42062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7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A24"/>
                </a:solidFill>
              </a:rPr>
              <a:t>Apple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901184" y="233172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DDEEDC"/>
          </a:solidFill>
          <a:ln w="12700">
            <a:solidFill>
              <a:srgbClr val="DDEED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241401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5"/>
                </a:solidFill>
              </a:rPr>
              <a:t>Fresh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01184" y="297180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F5D6CF"/>
          </a:solidFill>
          <a:ln w="12700">
            <a:solidFill>
              <a:srgbClr val="F5D6C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2624" y="305409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E2E"/>
                </a:solidFill>
              </a:rPr>
              <a:t>Rotten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17067"/>
                </a:solidFill>
              </a:rPr>
              <a:t>images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0840" y="1353312"/>
            <a:ext cx="1737360" cy="42062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7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A24"/>
                </a:solidFill>
              </a:rPr>
              <a:t>Banana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958584" y="233172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DDEEDC"/>
          </a:solidFill>
          <a:ln w="12700">
            <a:solidFill>
              <a:srgbClr val="DDEED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0024" y="241401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5"/>
                </a:solidFill>
              </a:rPr>
              <a:t>Fresh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58584" y="297180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F5D6CF"/>
          </a:solidFill>
          <a:ln w="12700">
            <a:solidFill>
              <a:srgbClr val="F5D6C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0024" y="305409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E2E"/>
                </a:solidFill>
              </a:rPr>
              <a:t>Rotten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17067"/>
                </a:solidFill>
              </a:rPr>
              <a:t>images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778240" y="1353312"/>
            <a:ext cx="1737360" cy="42062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7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A24"/>
                </a:solidFill>
              </a:rPr>
              <a:t>Orange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015984" y="233172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DDEEDC"/>
          </a:solidFill>
          <a:ln w="12700">
            <a:solidFill>
              <a:srgbClr val="DDEED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07424" y="241401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5"/>
                </a:solidFill>
              </a:rPr>
              <a:t>Fresh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15984" y="297180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F5D6CF"/>
          </a:solidFill>
          <a:ln w="12700">
            <a:solidFill>
              <a:srgbClr val="F5D6C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07424" y="305409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E2E"/>
                </a:solidFill>
              </a:rPr>
              <a:t>Rotten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9828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17067"/>
                </a:solidFill>
              </a:rPr>
              <a:t>images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4"/>
          </a:solidFill>
          <a:ln w="12700">
            <a:solidFill>
              <a:srgbClr val="F7F9F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Why Deep Learning 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896112"/>
            <a:ext cx="10515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useful information is spatial, not just tabular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A80"/>
                </a:solidFill>
              </a:rPr>
              <a:t>Fruit Freshness Classifier | PyTorch CNN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A80"/>
                </a:solidFill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325880"/>
            <a:ext cx="4663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F2A24"/>
                </a:solidFill>
              </a:rPr>
              <a:t>A fruit image is a grid of pixels. Freshness may depend on local patterns such as dark spots, bruises, color changes, and texture.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13232" y="278892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FFEEDB"/>
          </a:solidFill>
          <a:ln w="12700">
            <a:solidFill>
              <a:srgbClr val="FFEE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9992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3E2E"/>
                </a:solidFill>
              </a:rPr>
              <a:t>Fully connected baseline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17067"/>
                </a:solidFill>
              </a:rPr>
              <a:t>Flattens pixels and loses spatial relationships.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3232" y="416052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E9F4E8"/>
          </a:solidFill>
          <a:ln w="12700">
            <a:solidFill>
              <a:srgbClr val="E9F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370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45"/>
                </a:solidFill>
              </a:rPr>
              <a:t>CNN model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17067"/>
                </a:solidFill>
              </a:rPr>
              <a:t>Learns local visual filters and keeps spatial structure.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3429000"/>
            <a:ext cx="86868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66760" y="3429000"/>
            <a:ext cx="86868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332720" y="3429000"/>
            <a:ext cx="68580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0" y="297180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3054096"/>
            <a:ext cx="75895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Pixels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9480" y="29718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24344" y="3054096"/>
            <a:ext cx="98755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Edges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spots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35440" y="29718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3054096"/>
            <a:ext cx="98755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Texture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color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018520" y="2971800"/>
            <a:ext cx="822960" cy="914400"/>
          </a:xfrm>
          <a:prstGeom prst="roundRect">
            <a:avLst>
              <a:gd name="adj" fmla="val 8889"/>
            </a:avLst>
          </a:prstGeom>
          <a:solidFill>
            <a:srgbClr val="DDEEDC"/>
          </a:solidFill>
          <a:ln w="15240">
            <a:solidFill>
              <a:srgbClr val="2F6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73384" y="3054096"/>
            <a:ext cx="71323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Class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2240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B45"/>
                </a:solidFill>
              </a:rPr>
              <a:t>CNNs build a hierarchy of visual features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4"/>
          </a:solidFill>
          <a:ln w="12700">
            <a:solidFill>
              <a:srgbClr val="F7F9F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896112"/>
            <a:ext cx="10515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images to a saved model and demo 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A80"/>
                </a:solidFill>
              </a:rPr>
              <a:t>Fruit Freshness Classifier | PyTorch CNN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A80"/>
                </a:solidFill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2651760"/>
            <a:ext cx="45720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52728" y="1389888"/>
            <a:ext cx="731520" cy="73152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15727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148840"/>
            <a:ext cx="166420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2231136"/>
            <a:ext cx="15544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Load images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17067"/>
                </a:solidFill>
              </a:rPr>
              <a:t>ImageFolder reads labeled folders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27448" y="2651760"/>
            <a:ext cx="45720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11296" y="1389888"/>
            <a:ext cx="731520" cy="73152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1296" y="15727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35808" y="2148840"/>
            <a:ext cx="166420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0672" y="2231136"/>
            <a:ext cx="15544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Preprocess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35808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17067"/>
                </a:solidFill>
              </a:rPr>
              <a:t>Resize to 64 x 64 and convert to tensors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86016" y="2651760"/>
            <a:ext cx="45720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69864" y="1389888"/>
            <a:ext cx="731520" cy="7315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9864" y="15727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94376" y="2148840"/>
            <a:ext cx="166420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2231136"/>
            <a:ext cx="15544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Train models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94376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17067"/>
                </a:solidFill>
              </a:rPr>
              <a:t>Baseline, CNN, and CNN + augmentation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244584" y="2651760"/>
            <a:ext cx="45720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28432" y="1389888"/>
            <a:ext cx="731520" cy="73152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15727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52944" y="2148840"/>
            <a:ext cx="166420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07808" y="2231136"/>
            <a:ext cx="15544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Evaluate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52944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17067"/>
                </a:solidFill>
              </a:rPr>
              <a:t>Validation accuracy, test accuracy, confusion matrix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287000" y="1389888"/>
            <a:ext cx="731520" cy="73152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87000" y="15727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811512" y="2148840"/>
            <a:ext cx="166420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66376" y="2231136"/>
            <a:ext cx="15544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Deploy demo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11512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17067"/>
                </a:solidFill>
              </a:rPr>
              <a:t>Saved model powers the web interface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A24"/>
                </a:solidFill>
              </a:rPr>
              <a:t>The notebook keeps model development and evaluation in one place, while the web page demonstrates the trained model.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4"/>
          </a:solidFill>
          <a:ln w="12700">
            <a:solidFill>
              <a:srgbClr val="F7F9F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Model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896112"/>
            <a:ext cx="10515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first, then a simple CNN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A80"/>
                </a:solidFill>
              </a:rPr>
              <a:t>Fruit Freshness Classifier | PyTorch CNN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A80"/>
                </a:solidFill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A3E2E"/>
                </a:solidFill>
              </a:rPr>
              <a:t>Baseline fully connected network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2971800"/>
            <a:ext cx="91440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2971800"/>
            <a:ext cx="82296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2971800"/>
            <a:ext cx="82296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2606040"/>
            <a:ext cx="868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688336"/>
            <a:ext cx="75895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Image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74520" y="260604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FEEDB"/>
          </a:solidFill>
          <a:ln w="15240">
            <a:solidFill>
              <a:srgbClr val="9A3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9384" y="2688336"/>
            <a:ext cx="98755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Flatten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0" y="260604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9624" y="2688336"/>
            <a:ext cx="89611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Dense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ReLU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23560" y="260604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78424" y="2688336"/>
            <a:ext cx="9418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6 classes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6B45"/>
                </a:solidFill>
              </a:rPr>
              <a:t>CNN architecture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68580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697480" y="5486400"/>
            <a:ext cx="68580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80560" y="5486400"/>
            <a:ext cx="68580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63640" y="5486400"/>
            <a:ext cx="68580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46720" y="5486400"/>
            <a:ext cx="68580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829800" y="5486400"/>
            <a:ext cx="685800" cy="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11480" y="5148072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" y="5230368"/>
            <a:ext cx="85039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Image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600200" y="5148072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DDEEDC"/>
          </a:solidFill>
          <a:ln w="15240">
            <a:solidFill>
              <a:srgbClr val="2F6B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55064" y="5230368"/>
            <a:ext cx="98755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Conv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ReLU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383280" y="5148072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8144" y="5230368"/>
            <a:ext cx="98755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Max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Pool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166360" y="5148072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DDEEDC"/>
          </a:solidFill>
          <a:ln w="15240">
            <a:solidFill>
              <a:srgbClr val="2F6B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21224" y="5230368"/>
            <a:ext cx="98755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Conv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ReLU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49440" y="5148072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04304" y="5230368"/>
            <a:ext cx="98755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Max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Pool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732520" y="5148072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FF5D5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87384" y="5230368"/>
            <a:ext cx="98755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Dropout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Dense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515600" y="5148072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70464" y="5230368"/>
            <a:ext cx="9418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6 classes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4"/>
          </a:solidFill>
          <a:ln w="12700">
            <a:solidFill>
              <a:srgbClr val="F7F9F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Training and Evaluation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896112"/>
            <a:ext cx="10515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 with cross-entropy and validate model choices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A80"/>
                </a:solidFill>
              </a:rPr>
              <a:t>Fruit Freshness Classifier | PyTorch CNN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A80"/>
                </a:solidFill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029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B45"/>
                </a:solidFill>
              </a:rPr>
              <a:t>Training setup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43891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900" dirty="0">
                <a:solidFill>
                  <a:srgbClr val="1F2A24"/>
                </a:solidFill>
              </a:rPr>
              <a:t>Use CrossEntropyLoss for six-class classification.</a:t>
            </a:r>
            <a:endParaRPr lang="en-US" sz="1900" dirty="0"/>
          </a:p>
          <a:p>
            <a:r>
              <a:rPr lang="en-US" sz="1900" dirty="0">
                <a:solidFill>
                  <a:srgbClr val="1F2A24"/>
                </a:solidFill>
              </a:rPr>
              <a:t>Use SGD to update weights through backpropagation.</a:t>
            </a:r>
            <a:endParaRPr lang="en-US" sz="1900" dirty="0"/>
          </a:p>
          <a:p>
            <a:r>
              <a:rPr lang="en-US" sz="1900" dirty="0">
                <a:solidFill>
                  <a:srgbClr val="1F2A24"/>
                </a:solidFill>
              </a:rPr>
              <a:t>Select the final model based on validation accuracy.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029200" cy="4343400"/>
          </a:xfrm>
          <a:prstGeom prst="rect">
            <a:avLst/>
          </a:prstGeom>
          <a:solidFill>
            <a:srgbClr val="EFF5E8"/>
          </a:solidFill>
          <a:ln w="12700">
            <a:solidFill>
              <a:srgbClr val="EFF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B45"/>
                </a:solidFill>
              </a:rPr>
              <a:t>Metrics reported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43891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900" dirty="0">
                <a:solidFill>
                  <a:srgbClr val="1F2A24"/>
                </a:solidFill>
              </a:rPr>
              <a:t>Validation accuracy: model selection</a:t>
            </a:r>
            <a:endParaRPr lang="en-US" sz="1900" dirty="0"/>
          </a:p>
          <a:p>
            <a:r>
              <a:rPr lang="en-US" sz="1900" dirty="0">
                <a:solidFill>
                  <a:srgbClr val="1F2A24"/>
                </a:solidFill>
              </a:rPr>
              <a:t>Test accuracy: final holdout performance</a:t>
            </a:r>
            <a:endParaRPr lang="en-US" sz="1900" dirty="0"/>
          </a:p>
          <a:p>
            <a:r>
              <a:rPr lang="en-US" sz="1900" dirty="0">
                <a:solidFill>
                  <a:srgbClr val="1F2A24"/>
                </a:solidFill>
              </a:rPr>
              <a:t>Confusion matrix: error patterns by class</a:t>
            </a:r>
            <a:endParaRPr lang="en-US" sz="1900" dirty="0"/>
          </a:p>
          <a:p>
            <a:r>
              <a:rPr lang="en-US" sz="1900" dirty="0">
                <a:solidFill>
                  <a:srgbClr val="1F2A24"/>
                </a:solidFill>
              </a:rPr>
              <a:t>Class probabilities: web demo output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4"/>
          </a:solidFill>
          <a:ln w="12700">
            <a:solidFill>
              <a:srgbClr val="F7F9F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Web 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896112"/>
            <a:ext cx="10515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local demo for uploaded fruit images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A80"/>
                </a:solidFill>
              </a:rPr>
              <a:t>Fruit Freshness Classifier | PyTorch CNN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A80"/>
                </a:solidFill>
              </a:rPr>
              <a:t>08</a:t>
            </a:r>
            <a:endParaRPr lang="en-US" sz="1000" dirty="0"/>
          </a:p>
        </p:txBody>
      </p:sp>
      <p:pic>
        <p:nvPicPr>
          <p:cNvPr id="8" name="Image 0" descr="/mnt/data/ppt_assets/demo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1508760"/>
            <a:ext cx="3804920" cy="4892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893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6B45"/>
                </a:solidFill>
              </a:rPr>
              <a:t>How it works</a:t>
            </a:r>
            <a:endParaRPr lang="en-US" sz="2500" dirty="0"/>
          </a:p>
        </p:txBody>
      </p:sp>
      <p:sp>
        <p:nvSpPr>
          <p:cNvPr id="10" name="Shape 7"/>
          <p:cNvSpPr/>
          <p:nvPr/>
        </p:nvSpPr>
        <p:spPr>
          <a:xfrm>
            <a:off x="6400800" y="2606040"/>
            <a:ext cx="0" cy="45720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400800" y="3886200"/>
            <a:ext cx="0" cy="45720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400800" y="5166360"/>
            <a:ext cx="0" cy="365760"/>
          </a:xfrm>
          <a:prstGeom prst="line">
            <a:avLst/>
          </a:prstGeom>
          <a:noFill/>
          <a:ln w="20320">
            <a:solidFill>
              <a:srgbClr val="2F6B45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623560" y="19659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78424" y="2048256"/>
            <a:ext cx="14447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Upload image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23560" y="32004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78424" y="3282696"/>
            <a:ext cx="14447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Resize to 64 x 64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23560" y="44805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DDEEDC"/>
          </a:solidFill>
          <a:ln w="15240">
            <a:solidFill>
              <a:srgbClr val="2F6B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78424" y="4562856"/>
            <a:ext cx="14447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CNN prediction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23560" y="56235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C9D7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78424" y="5705856"/>
            <a:ext cx="14447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24"/>
                </a:solidFill>
              </a:rPr>
              <a:t>Show probabilities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26680" y="2103120"/>
            <a:ext cx="32918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A24"/>
                </a:solidFill>
              </a:rPr>
              <a:t>The interface supports live demonstration without retraining. It loads the saved PyTorch checkpoint and returns the predicted class plus confidence scores.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818120" y="5120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DDEAF8"/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09560" y="520293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15A86"/>
                </a:solidFill>
              </a:rPr>
              <a:t>Local web app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372600" y="51206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DDEEDC"/>
          </a:solidFill>
          <a:ln w="12700">
            <a:solidFill>
              <a:srgbClr val="DDEEDC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64040" y="5202936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5"/>
                </a:solidFill>
              </a:rPr>
              <a:t>PyTorch model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4"/>
          </a:solidFill>
          <a:ln w="12700">
            <a:solidFill>
              <a:srgbClr val="F7F9F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Demo Predictions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896112"/>
            <a:ext cx="10515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outputs from the local web interface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A80"/>
                </a:solidFill>
              </a:rPr>
              <a:t>Fruit Freshness Classifier | PyTorch CNN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A80"/>
                </a:solidFill>
              </a:rPr>
              <a:t>09</a:t>
            </a:r>
            <a:endParaRPr lang="en-US" sz="1000" dirty="0"/>
          </a:p>
        </p:txBody>
      </p:sp>
      <p:pic>
        <p:nvPicPr>
          <p:cNvPr id="8" name="Image 0" descr="/mnt/data/ppt_assets/demo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56" y="1508760"/>
            <a:ext cx="2382520" cy="3063240"/>
          </a:xfrm>
          <a:prstGeom prst="rect">
            <a:avLst/>
          </a:prstGeom>
        </p:spPr>
      </p:pic>
      <p:pic>
        <p:nvPicPr>
          <p:cNvPr id="9" name="Image 1" descr="/mnt/data/ppt_assets/demo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764" y="1508760"/>
            <a:ext cx="2382520" cy="3063240"/>
          </a:xfrm>
          <a:prstGeom prst="rect">
            <a:avLst/>
          </a:prstGeom>
        </p:spPr>
      </p:pic>
      <p:pic>
        <p:nvPicPr>
          <p:cNvPr id="10" name="Image 2" descr="/mnt/data/ppt_assets/demo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972" y="1508760"/>
            <a:ext cx="2382520" cy="3063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8116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6B45"/>
                </a:solidFill>
              </a:rPr>
              <a:t>Confidence scores</a:t>
            </a:r>
            <a:endParaRPr lang="en-US" sz="21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9144000" y="2011680"/>
          <a:ext cx="24688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 7"/>
          <p:cNvSpPr/>
          <p:nvPr/>
        </p:nvSpPr>
        <p:spPr>
          <a:xfrm>
            <a:off x="822960" y="5120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A24"/>
                </a:solidFill>
              </a:rPr>
              <a:t>The model is confident on several examples, but some rotated or dark-corner images can still confuse fruit type.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4"/>
          </a:solidFill>
          <a:ln w="12700">
            <a:solidFill>
              <a:srgbClr val="F7F9F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Findings and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896112"/>
            <a:ext cx="10515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worked and what we would improve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A80"/>
                </a:solidFill>
              </a:rPr>
              <a:t>Fruit Freshness Classifier | PyTorch CNN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A80"/>
                </a:solidFill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642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6B45"/>
                </a:solidFill>
              </a:rPr>
              <a:t>What worked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44348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900" dirty="0">
                <a:solidFill>
                  <a:srgbClr val="1F2A24"/>
                </a:solidFill>
              </a:rPr>
              <a:t>CNN-based image classification is feasible for fruit freshness.</a:t>
            </a:r>
            <a:endParaRPr lang="en-US" sz="1900" dirty="0"/>
          </a:p>
          <a:p>
            <a:r>
              <a:rPr lang="en-US" sz="1900" dirty="0">
                <a:solidFill>
                  <a:srgbClr val="1F2A24"/>
                </a:solidFill>
              </a:rPr>
              <a:t>The web interface gives a clear demonstration of model use.</a:t>
            </a:r>
            <a:endParaRPr lang="en-US" sz="1900" dirty="0"/>
          </a:p>
          <a:p>
            <a:r>
              <a:rPr lang="en-US" sz="1900" dirty="0">
                <a:solidFill>
                  <a:srgbClr val="1F2A24"/>
                </a:solidFill>
              </a:rPr>
              <a:t>The project stays within course-scope deep learning methods.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09360" y="1325880"/>
            <a:ext cx="5212080" cy="4572000"/>
          </a:xfrm>
          <a:prstGeom prst="rect">
            <a:avLst/>
          </a:prstGeom>
          <a:solidFill>
            <a:srgbClr val="FFF5D5"/>
          </a:solidFill>
          <a:ln w="12700">
            <a:solidFill>
              <a:srgbClr val="FFF5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6642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A3E2E"/>
                </a:solidFill>
              </a:rPr>
              <a:t>Next steps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43484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900" dirty="0">
                <a:solidFill>
                  <a:srgbClr val="1F2A24"/>
                </a:solidFill>
              </a:rPr>
              <a:t>Increase image size to preserve texture details.</a:t>
            </a:r>
            <a:endParaRPr lang="en-US" sz="1900" dirty="0"/>
          </a:p>
          <a:p>
            <a:r>
              <a:rPr lang="en-US" sz="1900" dirty="0">
                <a:solidFill>
                  <a:srgbClr val="1F2A24"/>
                </a:solidFill>
              </a:rPr>
              <a:t>Avoid black corners from rotation augmentation.</a:t>
            </a:r>
            <a:endParaRPr lang="en-US" sz="1900" dirty="0"/>
          </a:p>
          <a:p>
            <a:r>
              <a:rPr lang="en-US" sz="1900" dirty="0">
                <a:solidFill>
                  <a:srgbClr val="1F2A24"/>
                </a:solidFill>
              </a:rPr>
              <a:t>Train for more epochs and compare learning rates.</a:t>
            </a:r>
            <a:endParaRPr lang="en-US" sz="1900" dirty="0"/>
          </a:p>
          <a:p>
            <a:r>
              <a:rPr lang="en-US" sz="1900" dirty="0">
                <a:solidFill>
                  <a:srgbClr val="1F2A24"/>
                </a:solidFill>
              </a:rPr>
              <a:t>Keep GitHub commits separated by dataset, model, experiment, and web demo.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656</Words>
  <Application>Microsoft Office PowerPoint</Application>
  <PresentationFormat>宽屏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Columbia SPS DLAI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Fruit Freshness Classifier</dc:title>
  <dc:subject>Fruit Freshness Classifier</dc:subject>
  <dc:creator>DS Deep Learning Project Team</dc:creator>
  <cp:lastModifiedBy>BOWEN DONG</cp:lastModifiedBy>
  <cp:revision>2</cp:revision>
  <dcterms:created xsi:type="dcterms:W3CDTF">2026-08-09T14:33:04Z</dcterms:created>
  <dcterms:modified xsi:type="dcterms:W3CDTF">2026-08-10T21:12:10Z</dcterms:modified>
</cp:coreProperties>
</file>